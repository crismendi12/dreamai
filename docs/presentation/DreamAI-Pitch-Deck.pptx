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1A1F35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8346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DE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286000" y="3749040"/>
            <a:ext cx="7616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Image Rehearsal Therapy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Nightmare Treatment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4754880"/>
            <a:ext cx="2130552" cy="1828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50292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research and clinical framework of Dr. Michael Breus, PhD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5394960"/>
            <a:ext cx="8531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Sleep Doctor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Nightmares are the #1 symptom of PTSD -- and they are an independent, modifiable suicide risk factor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studies confirm nightmares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suicide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Breus research: Nightmare-Suicidality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8912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risk with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nightmares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Finnish cohort, 36,211 adults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22960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adults suffer from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nightmare disorder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AASM, 2023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0520" y="1828800"/>
            <a:ext cx="18288" cy="16459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828800"/>
            <a:ext cx="18288" cy="16459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206240"/>
            <a:ext cx="45720" cy="1280160"/>
          </a:xfrm>
          <a:prstGeom prst="rect">
            <a:avLst/>
          </a:prstGeom>
          <a:solidFill>
            <a:srgbClr val="D98B8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RESEARCH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frontline COVID workers, nightmares fully mediated the link between trauma exposure and suicidal ideation, accounting for ~66% of the effect. Treating nightmares through IRT may directly reduce suicidal thoughts. This makes nightmare treatment not just a quality-of-life improvement -- it is a suicide prevention strategy.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Dr. Breus research compilation (Consensus AI), Finnish cohort study (36,211 adults), AASM 2023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IRT reduces nightmares by 70%, but the delivery model requires trained therapists that don't exist at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8-ELEMENT IRT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Dr. Breus's IRT research compilation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Psychoeducation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nightmares, REM, how rehearsal changes dream content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Nightmare selection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2633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recurrent nightmare as 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072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 skills training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3072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pleasant imagery first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5112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Rescripting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3511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"Change the nightmare any way you wish"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9502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rehearsal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 min/day. Higher dose = better outcomes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exposure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Writing/reading original nightmare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8280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Belief/mastery work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"nightmares can't change" beliefs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5266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Homework/logging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5266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diary tracking over time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1600200"/>
            <a:ext cx="18288" cy="43891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trained IRT therapist (few exist)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weekly sessions at $150-$300 each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average wait for a sleep specialist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must imagine the ending -- most struggle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3796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rehearsal tool exists anywhere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at-home reinforcement between sessions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from your research: "Higher rehearsal dose = better outcomes" (Roth &amp; Drerup, 2020). AI-generated video makes nightly rehearsal engaging -- patients watch instead of struggling to imagine.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Krakow &amp; Zadra (2006), Aurora et al. (2010), Roth &amp; Drerup (2020), Dr. Breus IRT compilation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Research Powers Every Feature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you shared is embedded in the product. Here is how your clinical IP becomes working technology.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0972800" cy="18288"/>
          </a:xfrm>
          <a:prstGeom prst="rect">
            <a:avLst/>
          </a:prstGeom>
          <a:solidFill>
            <a:srgbClr val="1C2033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645920"/>
            <a:ext cx="11430000" cy="731520"/>
          </a:xfrm>
          <a:prstGeom prst="rect">
            <a:avLst/>
          </a:prstGeom>
          <a:solidFill>
            <a:srgbClr val="0D112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IRT Protocol (8 elements)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 + Rescript Generator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1645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follows Krakow's 8-step sequence: nightmare selection, rescripting with mastery/transformation/safety endings, structured rehearsal protocol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 Diary Components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Recorder + 15-Field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all 9 diary dimensions: narrative, sensory details (5 channels), emotions (0-10), somatic response, waking-life links, lucidity markers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11430000" cy="731520"/>
          </a:xfrm>
          <a:prstGeom prst="rect">
            <a:avLst/>
          </a:prstGeom>
          <a:solidFill>
            <a:srgbClr val="0D11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Nightmare-Suicidality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Urgency &amp; Intervention Window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200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the turning point and intervention window -- the exact moment before peak distress where rescripting begins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 Engineering / TDI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Video Generation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977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Technology-enhanced Targeted Dream Incubation: pre-sleep video + narration replaces verbal suggestion. First-person POV matches dream perspective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754880"/>
            <a:ext cx="11430000" cy="731520"/>
          </a:xfrm>
          <a:prstGeom prst="rect">
            <a:avLst/>
          </a:prstGeom>
          <a:solidFill>
            <a:srgbClr val="0D112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00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Sensory Stimulation Research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4800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Follow-Up Questions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754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targets 3 IRT areas: intervention window, somatic experience, sensory vividness. Uses choice framing from clinical interview protocols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CBT-I Integration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5577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0" y="5577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Healing Protocol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5532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tracking with milestones at days 3, 5, 7, 10 based on neural pathway formation timeline from IRT evidence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6400800"/>
            <a:ext cx="10972800" cy="18288"/>
          </a:xfrm>
          <a:prstGeom prst="rect">
            <a:avLst/>
          </a:prstGeom>
          <a:solidFill>
            <a:srgbClr val="1C2033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research PDFs  →  6 API endpoints  →  15 clinical analysis fields  →  1 working product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doesn't just reference your research -- it implements the clinical protocols as operational logic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NIGHTMARE ANALYSIS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474720" cy="320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dream diary + IRT research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9-type nightmare classification taxonomy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5-channel sensory mapping (visual, auditory, tactile, olfactory, proprioceptive)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83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483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response tracking (body + waking)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9227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922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NDQ framework for intensity (0-10)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3616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361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threat extraction (not surface, deep fear)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800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window identification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1600200"/>
            <a:ext cx="18288" cy="4114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1965960"/>
            <a:ext cx="3474720" cy="320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IRT interview protocols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242316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3 IRT areas per question round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30449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window (moment before peak)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3483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3483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experience (how body holds nightmare)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0" y="39227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17720" y="3922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framing ("Was it more like X or Y?")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43616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4361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includes one body-focused question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0" y="4800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17720" y="4800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rounds max, 3 questions each = clinical pace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92440" y="1600200"/>
            <a:ext cx="18288" cy="4114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RESCRIPTING ENGINE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0" y="1965960"/>
            <a:ext cx="3474720" cy="320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IRT rescripting principles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29600" y="242316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5820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evidence-based approaches per nightmare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30449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58200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Mastery: dreamer takes control/agency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3483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58200" y="3483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Transformation: threat becomes non-threatening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39227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58200" y="3922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dreamer reaches place of peace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29600" y="43616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58200" y="4361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which fits this nightmare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0" y="4800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58200" y="4800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scenes per ending for video generation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based on: Krakow IRT taxonomy, NDQ framework, Dr. Breus dream diary research, Consensus AI compilations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DE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86000" y="3108960"/>
            <a:ext cx="7616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IRT protocol, automated end-to-end.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nightmare capture to cinematic rehearsal video in 15 minutes.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420624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below maps directly to elements from the 8-element IRT protocol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DreamAI delivers the full IRT protocol in a single session -- each step grounded in your research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type your nightmare. AI transcribes via Whisper.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3474720" cy="38404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97480"/>
            <a:ext cx="45720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4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elements 2 + 6: Nightmare selection + optional exposure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0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2029968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15 clinical fields: core threat, distortions, somatic response.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2697480"/>
            <a:ext cx="3474720" cy="38404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2697480"/>
            <a:ext cx="45720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4498848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4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Diary: all 9 dimensions captured automatically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2029968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asks targeted IRT questions about intervention window and body sensation.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2697480"/>
            <a:ext cx="3474720" cy="38404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0" y="2697480"/>
            <a:ext cx="45720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8339328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4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element 3: Imagery skills + sensory vividness training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Rescript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07408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alternative endings: Mastery, Transformation, Safety.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3474720" cy="38404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5074920"/>
            <a:ext cx="45720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5074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4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element 4: "Change the nightmare any way you wish"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89120" y="4023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89120" y="4407408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cinematic first-person POV video with narration.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89120" y="5074920"/>
            <a:ext cx="3474720" cy="38404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8" name="Shape 36"/>
          <p:cNvSpPr/>
          <p:nvPr/>
        </p:nvSpPr>
        <p:spPr>
          <a:xfrm>
            <a:off x="4389120" y="5074920"/>
            <a:ext cx="45720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9" name="Text 37"/>
          <p:cNvSpPr/>
          <p:nvPr/>
        </p:nvSpPr>
        <p:spPr>
          <a:xfrm>
            <a:off x="4498848" y="5074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4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Engineering: Technology-enhanced TDI (Stickgold, 2025)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0" y="4023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77824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29600" y="4407408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tracking calendar. Watch nightly. Transformation at Day 10.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0" y="5074920"/>
            <a:ext cx="3474720" cy="38404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9600" y="5074920"/>
            <a:ext cx="45720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6" name="Text 44"/>
          <p:cNvSpPr/>
          <p:nvPr/>
        </p:nvSpPr>
        <p:spPr>
          <a:xfrm>
            <a:off x="8339328" y="5074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4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elements 5 + 8: Daily rehearsal + homework/logging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0690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9095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06908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90956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AI engines power the platform: Claude for clinical intelligence, Kling for video, Whisper for voice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15-field nightmare analysis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IRT-targeted follow-up questions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rescripted endings per session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Nightmare classification taxonomy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$0.07-$0.15 / session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1645920"/>
            <a:ext cx="18288" cy="34747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Kling v2 Standard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fal.ai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269748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2880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First-person POV cinematography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0" y="3291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clips, 3 per session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89120" y="3703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Mood-based camera + lighting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0" y="4114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async generation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475488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$0.45-$0.90 / session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2440" y="1645920"/>
            <a:ext cx="18288" cy="34747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CAPTURE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296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fal.ai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269748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2880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582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speech transcription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29600" y="3291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5820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29600" y="3703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582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emotional nuance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29600" y="4114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582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recording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29600" y="4754880"/>
            <a:ext cx="3474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 / session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5486400"/>
            <a:ext cx="1097280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5486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cost per session: $0.53 - $1.06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035040" y="54864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$150-$300 per traditional IRT session with a therapist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IRT has the strongest evidence base of any nightmare intervention -- DreamAI makes it accessible to millions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Nightmare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Krakow &amp; Zadra, 2006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gains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 months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et al., 2010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A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2960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AASM Position Paper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DREAMAI ADDS TO IRT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45720" cy="34747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33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visual rehearsal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42336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watch instead of imagine -- your TDI research shows 70-80% dream incubation success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727448"/>
            <a:ext cx="45720" cy="34747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09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Clinical-grade analysis in seconds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47091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15-field assessment matching your dream diary protocol -- all 9 dimensions captured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45720" cy="34747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846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10-day protocol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51846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your evidence that effects sustained 6-12 months, even 4+ years (Sierro 2020)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678424"/>
            <a:ext cx="45720" cy="34747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601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anywhere, anytime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56601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therapist required. A suicide prevention tool that reaches veterans before the 12-week wait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Krakow (2006), Aurora (2010), Stickgold TDI (2025), Sierro et al. (2020), Dr. Breus research compilation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DreamAI is grounded in peer-reviewed research -- a foundation strong enough for clinical trials and patents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Krakow et al., 2001 (JAMA)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RCT for sexual assault survivors with PTSD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Casement &amp; Swanson, 2012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 of IRT for post-trauma nightmares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825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Morgenthaler et al., 2018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825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AASM Position Paper for nightmare treatment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 &amp; Drerup, 2020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rehearsal dose = better outcomes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Sierro et al., 2020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effects sustained 4+ years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Mallett et al., 2024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strategies for dream science (Trends in Cog Sci)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Stickgold et al.,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 for creativity + PTSD using EEG platform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974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Salvesen et al., 2024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4974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review: sensory dream stimulation (51 studies)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1600200"/>
            <a:ext cx="18288" cy="4114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ENABLES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2057400"/>
            <a:ext cx="45720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DreamAI-assisted IRT vs. standard IRT. Measurable: nightmare frequency, intensity (NDQ), sleep quality, PTSD scores.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3017520"/>
            <a:ext cx="45720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Application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personalized video for Image Rehearsal Therapy. Novel combination of IRT + TDI + generative video. No prior art.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3977640"/>
            <a:ext cx="45720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Digital Therapeutic Path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digital therapeutic (PDT) for nightmare disorder. IRT already has Level A evidence -- DreamAI is a delivery mechanism.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4937760"/>
            <a:ext cx="45720" cy="685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 publishable in Sleep, JCSM, or Dreaming. Dr. Breus as clinical author, technology as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E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Partnership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109728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clinical IP + our engineering = a product neither of us could build alone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BREUS BRINGS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2057400"/>
            <a:ext cx="4754880" cy="18288"/>
          </a:xfrm>
          <a:prstGeom prst="rect">
            <a:avLst/>
          </a:prstGeom>
          <a:solidFill>
            <a:srgbClr val="1C20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credibility and IRT expertise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research PDFs (now embedded in product)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Sleep Doctor brand (2M+ audience)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337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sleep clinics for pilot study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presence for patient acquisition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clinical trial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737360"/>
            <a:ext cx="18288" cy="3200400"/>
          </a:xfrm>
          <a:prstGeom prst="rect">
            <a:avLst/>
          </a:prstGeom>
          <a:solidFill>
            <a:srgbClr val="1C2033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2057400"/>
            <a:ext cx="4754880" cy="18288"/>
          </a:xfrm>
          <a:prstGeom prst="rect">
            <a:avLst/>
          </a:prstGeom>
          <a:solidFill>
            <a:srgbClr val="1C2033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(live at dreamai-rho.vercel.app)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engineering capability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 implemented in every AI prompt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337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generation pipeline (Kling v2)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analysis engine (Claude + IRT)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iteration and deployment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4846320"/>
            <a:ext cx="5788152" cy="594360"/>
          </a:xfrm>
          <a:prstGeom prst="rect">
            <a:avLst>
              <a:gd name="adj" fmla="val 12308"/>
            </a:avLst>
          </a:prstGeom>
          <a:solidFill>
            <a:srgbClr val="D4A574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4846320"/>
            <a:ext cx="5788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the live demo: dreamai-rho.vercel.app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97280" y="5669280"/>
            <a:ext cx="9966960" cy="18288"/>
          </a:xfrm>
          <a:prstGeom prst="rect">
            <a:avLst/>
          </a:prstGeom>
          <a:solidFill>
            <a:srgbClr val="1C2033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5806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9728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Live demo walkthrough    2. Define beachhead (veterans vs. survivors)    3. Pilot study design    4. Patent filing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Mendivelso  |  cristian.mendivelso@mahway.com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DreamAI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DreamAI - AI-Powered Nightmare Therapy</dc:title>
  <dc:subject>PptxGenJS Presentation</dc:subject>
  <dc:creator>Cristian Mendivelso</dc:creator>
  <cp:lastModifiedBy>Cristian Mendivelso</cp:lastModifiedBy>
  <cp:revision>1</cp:revision>
  <dcterms:created xsi:type="dcterms:W3CDTF">2026-04-10T17:26:59Z</dcterms:created>
  <dcterms:modified xsi:type="dcterms:W3CDTF">2026-04-10T17:26:59Z</dcterms:modified>
</cp:coreProperties>
</file>